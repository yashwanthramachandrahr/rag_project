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29" r:id="rId4"/>
    <p:sldId id="330" r:id="rId5"/>
    <p:sldId id="331" r:id="rId6"/>
    <p:sldId id="339" r:id="rId7"/>
    <p:sldId id="332" r:id="rId8"/>
    <p:sldId id="333" r:id="rId9"/>
    <p:sldId id="334" r:id="rId10"/>
    <p:sldId id="335" r:id="rId11"/>
    <p:sldId id="337" r:id="rId12"/>
    <p:sldId id="341" r:id="rId13"/>
    <p:sldId id="340" r:id="rId14"/>
    <p:sldId id="264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jfWxckgrVFGjfgRMnEJt4yTv5i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049" autoAdjust="0"/>
  </p:normalViewPr>
  <p:slideViewPr>
    <p:cSldViewPr snapToGrid="0">
      <p:cViewPr>
        <p:scale>
          <a:sx n="100" d="100"/>
          <a:sy n="100" d="100"/>
        </p:scale>
        <p:origin x="974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72487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1177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5767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465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4288" y="-26988"/>
            <a:ext cx="9180514" cy="68849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-71718" y="1675608"/>
            <a:ext cx="9144000" cy="1078200"/>
          </a:xfrm>
          <a:prstGeom prst="rect">
            <a:avLst/>
          </a:prstGeom>
          <a:solidFill>
            <a:srgbClr val="E35F1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3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POWERED ACADEMIC ASSISTANT</a:t>
            </a:r>
            <a:endParaRPr sz="3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-481" y="1258383"/>
            <a:ext cx="9144300" cy="107700"/>
          </a:xfrm>
          <a:prstGeom prst="rect">
            <a:avLst/>
          </a:prstGeom>
          <a:solidFill>
            <a:srgbClr val="0040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482" y="2953488"/>
            <a:ext cx="9144300" cy="107700"/>
          </a:xfrm>
          <a:prstGeom prst="rect">
            <a:avLst/>
          </a:prstGeom>
          <a:solidFill>
            <a:srgbClr val="0040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808" y="4538749"/>
            <a:ext cx="4451945" cy="1571106"/>
          </a:xfrm>
        </p:spPr>
        <p:txBody>
          <a:bodyPr/>
          <a:lstStyle/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Dr. Umesh KK 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Professor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 Information Science and Engineering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JSS Science and Technology University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5132043" y="4385598"/>
            <a:ext cx="4280453" cy="1877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Yashwanth Ramachandra HR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Usn: 01JST24PDS019</a:t>
            </a:r>
            <a:endParaRPr lang="en-US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Branch: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Mtech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(Data Science)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Department: Information Science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College: JSS Science And Technology University</a:t>
            </a:r>
            <a:endParaRPr lang="en-US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4A8A9-9323-E7D4-E66A-2CE38DFF1756}"/>
              </a:ext>
            </a:extLst>
          </p:cNvPr>
          <p:cNvSpPr txBox="1"/>
          <p:nvPr/>
        </p:nvSpPr>
        <p:spPr>
          <a:xfrm>
            <a:off x="818534" y="1453614"/>
            <a:ext cx="722553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IN" sz="1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issues and Challenges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 and Specification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91E84E-5A72-B89B-7FCD-5C7EB69C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3E567D-FA3B-0392-AC81-D047EA99BC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ED0E4C6-B0F7-49D5-682E-E7C1703B7E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7176" y="1405415"/>
            <a:ext cx="8032377" cy="4042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000" dirty="0"/>
              <a:t>Academic students need to work with large amounts of textbooks, research papers, notes, and other learning materials. </a:t>
            </a:r>
          </a:p>
          <a:p>
            <a:pPr lvl="0"/>
            <a:r>
              <a:rPr lang="en-IN" sz="2000" dirty="0"/>
              <a:t>Finding relevant information and understanding lengthy academic documents can be time-consuming. </a:t>
            </a:r>
          </a:p>
          <a:p>
            <a:pPr lvl="0"/>
            <a:r>
              <a:rPr lang="en-IN" sz="2000" dirty="0"/>
              <a:t>Traditional document search mainly relies on keywords and may not understand the semantic meaning of a student's query. </a:t>
            </a:r>
          </a:p>
          <a:p>
            <a:pPr lvl="0"/>
            <a:r>
              <a:rPr lang="en-IN" sz="2000" b="1" dirty="0"/>
              <a:t>Retrieval-Augmented Generation (RAG)</a:t>
            </a:r>
            <a:r>
              <a:rPr lang="en-IN" sz="2000" dirty="0"/>
              <a:t> combines semantic retrieval with a language model to provide answers grounded in the uploaded academic documents.</a:t>
            </a:r>
          </a:p>
          <a:p>
            <a:pPr lvl="0"/>
            <a:r>
              <a:rPr lang="en-IN" sz="2000" dirty="0"/>
              <a:t>The proposed </a:t>
            </a:r>
            <a:r>
              <a:rPr lang="en-IN" sz="2000" b="1" dirty="0"/>
              <a:t>AI-Powered Academic Assistant</a:t>
            </a:r>
            <a:r>
              <a:rPr lang="en-IN" sz="2000" dirty="0"/>
              <a:t> uses </a:t>
            </a:r>
            <a:r>
              <a:rPr lang="en-IN" sz="2000" b="1" dirty="0"/>
              <a:t>Sentence Transformers and FAISS</a:t>
            </a:r>
            <a:r>
              <a:rPr lang="en-IN" sz="2000" dirty="0"/>
              <a:t> for semantic retrieval and </a:t>
            </a:r>
            <a:r>
              <a:rPr lang="en-IN" sz="2000" b="1" dirty="0" err="1"/>
              <a:t>TinyLlama</a:t>
            </a:r>
            <a:r>
              <a:rPr lang="en-IN" sz="2000" b="1" dirty="0"/>
              <a:t> 1.1B</a:t>
            </a:r>
            <a:r>
              <a:rPr lang="en-IN" sz="2000" dirty="0"/>
              <a:t> for response generation.</a:t>
            </a:r>
          </a:p>
        </p:txBody>
      </p:sp>
    </p:spTree>
    <p:extLst>
      <p:ext uri="{BB962C8B-B14F-4D97-AF65-F5344CB8AC3E}">
        <p14:creationId xmlns:p14="http://schemas.microsoft.com/office/powerpoint/2010/main" val="504653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81A85-61C6-21E1-71E5-E8DC9E86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6B63A-3AEE-0F03-5268-91CA509E1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42060"/>
            <a:ext cx="8435788" cy="4934621"/>
          </a:xfrm>
        </p:spPr>
        <p:txBody>
          <a:bodyPr/>
          <a:lstStyle/>
          <a:p>
            <a:pPr lvl="0"/>
            <a:r>
              <a:rPr lang="en-IN" sz="2000" dirty="0"/>
              <a:t>Academic information is distributed across multiple documents, making it difficult for students to obtain </a:t>
            </a:r>
            <a:r>
              <a:rPr lang="en-IN" sz="2000" b="1" dirty="0"/>
              <a:t>relevant information quickly and consistently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Existing systems may provide information without sufficient </a:t>
            </a:r>
            <a:r>
              <a:rPr lang="en-IN" sz="2000" b="1" dirty="0"/>
              <a:t>document-specific context</a:t>
            </a:r>
            <a:r>
              <a:rPr lang="en-IN" sz="2000" dirty="0"/>
              <a:t>, which can result in incomplete or less reliable responses. </a:t>
            </a:r>
          </a:p>
          <a:p>
            <a:pPr lvl="0"/>
            <a:r>
              <a:rPr lang="en-IN" sz="2000" dirty="0"/>
              <a:t>Students lack a unified platform that supports </a:t>
            </a:r>
            <a:r>
              <a:rPr lang="en-IN" sz="2000" b="1" dirty="0"/>
              <a:t>learning, document understanding, answer assessment, interview preparation, and career guidance</a:t>
            </a:r>
            <a:r>
              <a:rPr lang="en-IN" sz="2000" dirty="0"/>
              <a:t> in one system. </a:t>
            </a:r>
          </a:p>
          <a:p>
            <a:pPr lvl="0"/>
            <a:r>
              <a:rPr lang="en-IN" sz="2000" dirty="0"/>
              <a:t>Evaluating descriptive answers manually requires considerable time and may not provide </a:t>
            </a:r>
            <a:r>
              <a:rPr lang="en-IN" sz="2000" b="1" dirty="0"/>
              <a:t>consistent and objective feedback</a:t>
            </a:r>
            <a:r>
              <a:rPr lang="en-IN" sz="2000" dirty="0"/>
              <a:t> to students. </a:t>
            </a:r>
          </a:p>
          <a:p>
            <a:pPr lvl="0"/>
            <a:r>
              <a:rPr lang="en-IN" sz="2000" dirty="0"/>
              <a:t>There is a need for an integrated AI-based solution that can </a:t>
            </a:r>
            <a:r>
              <a:rPr lang="en-IN" sz="2000" b="1" dirty="0"/>
              <a:t>retrieve relevant academic content, generate meaningful responses, evaluate answers, and provide personalized academic and career support</a:t>
            </a:r>
            <a:r>
              <a:rPr lang="en-IN" sz="20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D0B88-CFB6-B1DF-1FF0-B77F553A86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6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B678-6FD5-0763-24DB-33B7D6CD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B4409-E713-E13C-CD96-72DB1D689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AD77D-ACAA-585C-0B83-C270AC2F45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1496419"/>
            <a:ext cx="844475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000" dirty="0"/>
              <a:t>To develop an </a:t>
            </a:r>
            <a:r>
              <a:rPr lang="en-IN" sz="2000" b="1" dirty="0"/>
              <a:t>AI-Powered Academic Assistant</a:t>
            </a:r>
            <a:r>
              <a:rPr lang="en-IN" sz="2000" dirty="0"/>
              <a:t> that provides context-aware academic support using uploaded educational documents. </a:t>
            </a:r>
          </a:p>
          <a:p>
            <a:pPr lvl="0"/>
            <a:r>
              <a:rPr lang="en-IN" sz="2000" dirty="0"/>
              <a:t>To implement </a:t>
            </a:r>
            <a:r>
              <a:rPr lang="en-IN" sz="2000" b="1" dirty="0"/>
              <a:t>RAG with Sentence Transformers and FAISS</a:t>
            </a:r>
            <a:r>
              <a:rPr lang="en-IN" sz="2000" dirty="0"/>
              <a:t> for efficient semantic retrieval of relevant academic information. </a:t>
            </a:r>
          </a:p>
          <a:p>
            <a:pPr lvl="0"/>
            <a:r>
              <a:rPr lang="en-IN" sz="2000" dirty="0"/>
              <a:t>To use </a:t>
            </a:r>
            <a:r>
              <a:rPr lang="en-IN" sz="2000" b="1" dirty="0" err="1"/>
              <a:t>TinyLlama</a:t>
            </a:r>
            <a:r>
              <a:rPr lang="en-IN" sz="2000" b="1" dirty="0"/>
              <a:t> 1.1B</a:t>
            </a:r>
            <a:r>
              <a:rPr lang="en-IN" sz="2000" dirty="0"/>
              <a:t> for generating answers and summaries based on the retrieved academic context. </a:t>
            </a:r>
          </a:p>
          <a:p>
            <a:pPr lvl="0"/>
            <a:r>
              <a:rPr lang="en-IN" sz="2000" dirty="0"/>
              <a:t>To develop modules for </a:t>
            </a:r>
            <a:r>
              <a:rPr lang="en-IN" sz="2000" b="1" dirty="0"/>
              <a:t>question answering, document summarization, answer evaluation, and mock interview preparation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To provide </a:t>
            </a:r>
            <a:r>
              <a:rPr lang="en-IN" sz="2000" b="1" dirty="0"/>
              <a:t>AI-based career assistance</a:t>
            </a:r>
            <a:r>
              <a:rPr lang="en-IN" sz="2000" dirty="0"/>
              <a:t> through skill analysis, career recommendations, job recommendations, and interview preparation. </a:t>
            </a:r>
          </a:p>
          <a:p>
            <a:pPr lvl="0"/>
            <a:r>
              <a:rPr lang="en-IN" sz="2000" dirty="0"/>
              <a:t>To evaluate student answers using </a:t>
            </a:r>
            <a:r>
              <a:rPr lang="en-IN" sz="2000" b="1" dirty="0"/>
              <a:t>Cosine Similarity, Keyword Matching, and </a:t>
            </a:r>
            <a:r>
              <a:rPr lang="en-IN" sz="2000" b="1" dirty="0" err="1"/>
              <a:t>BERTScore</a:t>
            </a:r>
            <a:r>
              <a:rPr lang="en-IN" sz="2000" dirty="0"/>
              <a:t> to provide meaningful and consistent feedback.</a:t>
            </a:r>
          </a:p>
        </p:txBody>
      </p:sp>
    </p:spTree>
    <p:extLst>
      <p:ext uri="{BB962C8B-B14F-4D97-AF65-F5344CB8AC3E}">
        <p14:creationId xmlns:p14="http://schemas.microsoft.com/office/powerpoint/2010/main" val="150918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51560-833B-0957-3A20-742F6172A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A013-F336-4E63-2378-21E8E2A2D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1838"/>
            <a:ext cx="7193280" cy="594042"/>
          </a:xfrm>
        </p:spPr>
        <p:txBody>
          <a:bodyPr/>
          <a:lstStyle/>
          <a:p>
            <a:r>
              <a:rPr lang="en-US" sz="3600" dirty="0"/>
              <a:t>Literature Survey</a:t>
            </a: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E82E3-9B4F-3348-026E-614340593A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4F8AA5-D2BA-CA48-8AC2-04A41E357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111871"/>
              </p:ext>
            </p:extLst>
          </p:nvPr>
        </p:nvGraphicFramePr>
        <p:xfrm>
          <a:off x="729202" y="1600200"/>
          <a:ext cx="7685596" cy="4525963"/>
        </p:xfrm>
        <a:graphic>
          <a:graphicData uri="http://schemas.openxmlformats.org/drawingml/2006/table">
            <a:tbl>
              <a:tblPr/>
              <a:tblGrid>
                <a:gridCol w="1921399">
                  <a:extLst>
                    <a:ext uri="{9D8B030D-6E8A-4147-A177-3AD203B41FA5}">
                      <a16:colId xmlns:a16="http://schemas.microsoft.com/office/drawing/2014/main" val="2739205628"/>
                    </a:ext>
                  </a:extLst>
                </a:gridCol>
                <a:gridCol w="1921399">
                  <a:extLst>
                    <a:ext uri="{9D8B030D-6E8A-4147-A177-3AD203B41FA5}">
                      <a16:colId xmlns:a16="http://schemas.microsoft.com/office/drawing/2014/main" val="3339809418"/>
                    </a:ext>
                  </a:extLst>
                </a:gridCol>
                <a:gridCol w="1921399">
                  <a:extLst>
                    <a:ext uri="{9D8B030D-6E8A-4147-A177-3AD203B41FA5}">
                      <a16:colId xmlns:a16="http://schemas.microsoft.com/office/drawing/2014/main" val="1716236930"/>
                    </a:ext>
                  </a:extLst>
                </a:gridCol>
                <a:gridCol w="1921399">
                  <a:extLst>
                    <a:ext uri="{9D8B030D-6E8A-4147-A177-3AD203B41FA5}">
                      <a16:colId xmlns:a16="http://schemas.microsoft.com/office/drawing/2014/main" val="2250658428"/>
                    </a:ext>
                  </a:extLst>
                </a:gridCol>
              </a:tblGrid>
              <a:tr h="4839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773388"/>
                  </a:ext>
                </a:extLst>
              </a:tr>
              <a:tr h="108167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027337"/>
                  </a:ext>
                </a:extLst>
              </a:tr>
              <a:tr h="14801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550577"/>
                  </a:ext>
                </a:extLst>
              </a:tr>
              <a:tr h="14801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5396" marR="85396" marT="42698" marB="42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25706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51CD5B-6866-819E-1AE7-201D1B851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976726"/>
              </p:ext>
            </p:extLst>
          </p:nvPr>
        </p:nvGraphicFramePr>
        <p:xfrm>
          <a:off x="312420" y="1112520"/>
          <a:ext cx="8374380" cy="5074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9310">
                  <a:extLst>
                    <a:ext uri="{9D8B030D-6E8A-4147-A177-3AD203B41FA5}">
                      <a16:colId xmlns:a16="http://schemas.microsoft.com/office/drawing/2014/main" val="3252276063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409852296"/>
                    </a:ext>
                  </a:extLst>
                </a:gridCol>
                <a:gridCol w="2849880">
                  <a:extLst>
                    <a:ext uri="{9D8B030D-6E8A-4147-A177-3AD203B41FA5}">
                      <a16:colId xmlns:a16="http://schemas.microsoft.com/office/drawing/2014/main" val="2081687655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1523797410"/>
                    </a:ext>
                  </a:extLst>
                </a:gridCol>
              </a:tblGrid>
              <a:tr h="5386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Methods / Technologies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Key Finding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556997"/>
                  </a:ext>
                </a:extLst>
              </a:tr>
              <a:tr h="1282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 Survey over RAG with Autonomous Models</a:t>
                      </a:r>
                      <a:r>
                        <a:rPr lang="en-IN" sz="1200" dirty="0"/>
                        <a:t> – Muhammad Arslan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RAG, LLMs, semantic search, vector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RAG improves the </a:t>
                      </a:r>
                      <a:r>
                        <a:rPr lang="en-IN" sz="1200" b="1" dirty="0"/>
                        <a:t>reliability, accuracy, and usefulness</a:t>
                      </a:r>
                      <a:r>
                        <a:rPr lang="en-IN" sz="1200" dirty="0"/>
                        <a:t> of LLM-based systems across domains.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382278"/>
                  </a:ext>
                </a:extLst>
              </a:tr>
              <a:tr h="1661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Educational Assistant Based on Large Language Models Using RAG Framework</a:t>
                      </a:r>
                      <a:r>
                        <a:rPr lang="en-IN" sz="1200"/>
                        <a:t> – Umair Hasan Khan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RAG, OCR, Sentence Transformers, Llama-2-7B, Mistral-7B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RAG with open-source LLMs provides an effective approach for </a:t>
                      </a:r>
                      <a:r>
                        <a:rPr lang="en-IN" sz="1200" b="1" dirty="0"/>
                        <a:t>university question answering</a:t>
                      </a:r>
                      <a:r>
                        <a:rPr lang="en-IN" sz="1200" dirty="0"/>
                        <a:t>; Llama-2 performed better in the reported evaluation.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243844"/>
                  </a:ext>
                </a:extLst>
              </a:tr>
              <a:tr h="1592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Unimib Assistant: Designing a Student-Centric Chatbot Based on RAG Technology</a:t>
                      </a:r>
                      <a:r>
                        <a:rPr lang="en-IN" sz="1200" dirty="0"/>
                        <a:t> – Chiara Antico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RAG, ChatGPT, PDF/PPT/web data, student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 student-focused RAG chatbot can provide </a:t>
                      </a:r>
                      <a:r>
                        <a:rPr lang="en-IN" sz="1200" b="1" dirty="0"/>
                        <a:t>accessible and context-aware academic information</a:t>
                      </a:r>
                      <a:r>
                        <a:rPr lang="en-IN" sz="1200" dirty="0"/>
                        <a:t> and can be improved through user feedback.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71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555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F69F-FD30-CD5E-8037-FE395FF65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032"/>
            <a:ext cx="6748272" cy="1161606"/>
          </a:xfrm>
        </p:spPr>
        <p:txBody>
          <a:bodyPr/>
          <a:lstStyle/>
          <a:p>
            <a:r>
              <a:rPr lang="en-IN" dirty="0"/>
              <a:t>Open Issues and Challenges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0CBA5-9949-8E31-3DE4-6254F0368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1E242-AF53-C46E-F93E-25C90906BA72}"/>
              </a:ext>
            </a:extLst>
          </p:cNvPr>
          <p:cNvSpPr txBox="1"/>
          <p:nvPr/>
        </p:nvSpPr>
        <p:spPr>
          <a:xfrm>
            <a:off x="779929" y="1730188"/>
            <a:ext cx="4778189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Hallucination Problem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 Document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 Limitation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 Accuracy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 Evaluation Challenges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Bias in AI Models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Privacy &amp; Security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Cost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80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CCB31-C9CF-C6C6-1999-240F52A7A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1836"/>
            <a:ext cx="8357616" cy="685801"/>
          </a:xfrm>
        </p:spPr>
        <p:txBody>
          <a:bodyPr/>
          <a:lstStyle/>
          <a:p>
            <a:r>
              <a:rPr lang="en-IN" dirty="0"/>
              <a:t>System Requirements and Specifications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3230E-0ACD-9F3B-C0AF-DC266EE392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D993A-AA00-42BE-4E4D-FB8464BE24B2}"/>
              </a:ext>
            </a:extLst>
          </p:cNvPr>
          <p:cNvSpPr txBox="1"/>
          <p:nvPr/>
        </p:nvSpPr>
        <p:spPr>
          <a:xfrm>
            <a:off x="286871" y="2357718"/>
            <a:ext cx="3854823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Hardware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Processor: Intel i5 or above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RAM: Minimum 8GB (16GB recommended)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Storage: 10GB free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Internet connection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51E53-BF13-6E48-0365-B6F0FB378588}"/>
              </a:ext>
            </a:extLst>
          </p:cNvPr>
          <p:cNvSpPr txBox="1"/>
          <p:nvPr/>
        </p:nvSpPr>
        <p:spPr>
          <a:xfrm>
            <a:off x="4455459" y="2241176"/>
            <a:ext cx="405204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Software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Operating System: Windows / Linux / macOS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Python 3.9+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Libraries:</a:t>
            </a:r>
          </a:p>
          <a:p>
            <a:pPr marL="342900" lvl="8" indent="-342900">
              <a:buFont typeface="Arial" panose="020B0604020202020204" pitchFamily="34" charset="0"/>
              <a:buChar char="•"/>
            </a:pPr>
            <a:r>
              <a:rPr lang="en-IN" sz="2000" dirty="0"/>
              <a:t>NLP libraries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n-IN" sz="2000" dirty="0"/>
              <a:t>Vector database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n-IN" sz="2000" dirty="0"/>
              <a:t>PDF processing tools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n-IN" sz="2000" dirty="0"/>
              <a:t>Web framework (Flask /</a:t>
            </a:r>
            <a:r>
              <a:rPr lang="en-IN" sz="2000" dirty="0" err="1"/>
              <a:t>FastAPI</a:t>
            </a:r>
            <a:r>
              <a:rPr lang="en-IN" sz="2000" dirty="0"/>
              <a:t> / </a:t>
            </a:r>
            <a:r>
              <a:rPr lang="en-IN" sz="2000" dirty="0" err="1"/>
              <a:t>Streamlit</a:t>
            </a:r>
            <a:r>
              <a:rPr lang="en-IN" sz="2000" dirty="0"/>
              <a:t>)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IN" sz="2000" dirty="0"/>
              <a:t>Transformer-based LLM</a:t>
            </a:r>
          </a:p>
        </p:txBody>
      </p:sp>
    </p:spTree>
    <p:extLst>
      <p:ext uri="{BB962C8B-B14F-4D97-AF65-F5344CB8AC3E}">
        <p14:creationId xmlns:p14="http://schemas.microsoft.com/office/powerpoint/2010/main" val="1415170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5E863-5241-1221-93BA-FE0E931986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2CFE4-11A2-B840-AD69-6B52C28F696E}"/>
              </a:ext>
            </a:extLst>
          </p:cNvPr>
          <p:cNvSpPr txBox="1"/>
          <p:nvPr/>
        </p:nvSpPr>
        <p:spPr>
          <a:xfrm>
            <a:off x="753035" y="1488140"/>
            <a:ext cx="3496236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Functional Specifications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Upload academic documents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Perform text extraction &amp; chunking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Generate embeddings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Retrieve relevant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Generate summarized &amp; cited answers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Maintain conversation memory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885427-2D2B-4E21-ED13-93D77D46A271}"/>
              </a:ext>
            </a:extLst>
          </p:cNvPr>
          <p:cNvSpPr txBox="1"/>
          <p:nvPr/>
        </p:nvSpPr>
        <p:spPr>
          <a:xfrm>
            <a:off x="4572000" y="1622612"/>
            <a:ext cx="361277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Non-Functional Specifications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High response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Fast response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Scalable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User-friendly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Secure document handling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998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303C9-B5EB-E661-68E2-DC09D073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DFEAE-F8B4-00B4-C6F2-D4B381D81B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9493C2-23C6-8371-02CD-8A53F69BB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67" y="1572768"/>
            <a:ext cx="8365067" cy="362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4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D3366-28E3-DF40-3C19-8EB473B5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15D2-E665-02F3-1DBA-74F08F40EC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9FA2D4-59F4-7193-60F4-4A2FA3AC3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1" y="1194862"/>
            <a:ext cx="8910918" cy="486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617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EA2A-F4B1-17F9-9B0E-3AED222C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079B-F76A-343F-BE0C-26879F8A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and Discussion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92DEE-C75F-FCC8-1E3F-25ABB85E63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0F25FA-E442-ADED-C983-02B3D4EAAD6F}"/>
              </a:ext>
            </a:extLst>
          </p:cNvPr>
          <p:cNvSpPr txBox="1"/>
          <p:nvPr/>
        </p:nvSpPr>
        <p:spPr>
          <a:xfrm>
            <a:off x="754380" y="1516380"/>
            <a:ext cx="8001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Answering: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successfully generated context-aware answers by retrieving relevant information from uploaded academic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 Evaluation: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 descriptive answers were evaluated using Cosine Similarity, Keyword Matching, and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BERTScore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In the tested case, 10 question–answer pairs achieved an overall score of 78.6/100.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Interview Assistant: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successfully generated customized technical and academic interview questions based on the selected topic or job role.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Career Assistant: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user-provided technical skills and generated suitable career paths, job roles, LinkedIn job-search links, and interview questions.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Discussion: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results show that the proposed system successfully integrates multiple academic and career-support functionalities into a single platform, providing students with a more convenient and interactive environment for learning, self-assessment, interview preparation, and career development.</a:t>
            </a:r>
          </a:p>
        </p:txBody>
      </p:sp>
    </p:spTree>
    <p:extLst>
      <p:ext uri="{BB962C8B-B14F-4D97-AF65-F5344CB8AC3E}">
        <p14:creationId xmlns:p14="http://schemas.microsoft.com/office/powerpoint/2010/main" val="1292945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3158-F017-91A9-AF7A-590B276E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3E5A-00DE-04AC-C546-974E98B5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71B98-64C8-5774-C761-BCD9BCE206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386F5-280E-FB21-8F3E-A0A1382AE984}"/>
              </a:ext>
            </a:extLst>
          </p:cNvPr>
          <p:cNvSpPr txBox="1"/>
          <p:nvPr/>
        </p:nvSpPr>
        <p:spPr>
          <a:xfrm>
            <a:off x="842682" y="1631577"/>
            <a:ext cx="77374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unified AI-powered academic platform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combines document-based learning, question answering, summarization, answer evaluation, interview preparation, and career guidance.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integration of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RAG, Sentence Transformers, FAISS, and </a:t>
            </a:r>
            <a:r>
              <a:rPr lang="en-IN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TinyLlama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the system to generate responses based on the user's academic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combination of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Cosine Similarity, Keyword Matching, and </a:t>
            </a:r>
            <a:r>
              <a:rPr lang="en-IN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BERTScore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provides a multi-dimensional approach to evaluating descriptive answers.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multi-agent AI Career Assistant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extends the system beyond academic learning by providing personalized career and job recommendations based on user skills.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the proposed system demonstrates the potential of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Generative AI and RAG-based techniques to provide personalized, context-aware, and interactive academic assistance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6385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1064250" y="2614200"/>
            <a:ext cx="7015500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6287</TotalTime>
  <Words>956</Words>
  <Application>Microsoft Office PowerPoint</Application>
  <PresentationFormat>On-screen Show (4:3)</PresentationFormat>
  <Paragraphs>129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Introduction</vt:lpstr>
      <vt:lpstr>Problem Statement</vt:lpstr>
      <vt:lpstr>Objectives</vt:lpstr>
      <vt:lpstr>Literature Survey  </vt:lpstr>
      <vt:lpstr>Open Issues and Challenges</vt:lpstr>
      <vt:lpstr>System Requirements and Specifications</vt:lpstr>
      <vt:lpstr>PowerPoint Presentation</vt:lpstr>
      <vt:lpstr>System Architecture</vt:lpstr>
      <vt:lpstr>Methodology</vt:lpstr>
      <vt:lpstr>Result and Discussion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KUSUMA</dc:creator>
  <cp:lastModifiedBy>Yashwanth Ramachandra H R</cp:lastModifiedBy>
  <cp:revision>142</cp:revision>
  <dcterms:modified xsi:type="dcterms:W3CDTF">2026-08-08T12:11:08Z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2023-09-24T12:59:33Z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b141852e-5275-40c6-9fca-c7914237ae07</vt:lpwstr>
  </property>
  <property fmtid="{D5CDD505-2E9C-101B-9397-08002B2CF9AE}" pid="7" name="MSIP_Label_defa4170-0d19-0005-0004-bc88714345d2_ActionId">
    <vt:lpwstr>0e5e2b99-cb52-4394-a86a-15ddba90649f</vt:lpwstr>
  </property>
  <property fmtid="{D5CDD505-2E9C-101B-9397-08002B2CF9AE}" pid="8" name="MSIP_Label_defa4170-0d19-0005-0004-bc88714345d2_ContentBits">
    <vt:lpwstr>0</vt:lpwstr>
  </property>
</Properties>
</file>